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Sportéo — Excel et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Quels magasins et catégories contribuent au CA et à la marge, et quels écarts aux objectifs faut-il investiguer ?</a:t>
            </a:r>
          </a:p>
          <a:p>
            <a:pPr>
              <a:spcAft>
                <a:spcPts val="1800"/>
              </a:spcAft>
              <a:defRPr sz="2000"/>
            </a:pPr>
            <a:r>
              <a:t>Classeur Excel, transformations Power Query et tableau de bord filtrable.</a:t>
            </a:r>
          </a:p>
          <a:p>
            <a:pPr>
              <a:spcAft>
                <a:spcPts val="1800"/>
              </a:spcAft>
              <a:defRPr sz="2000"/>
            </a:pPr>
            <a:r>
              <a:t>Données fictives : aucune mission réelle ni effet causal démontré.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Question et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Quels magasins et catégories contribuent au CA et à la marge, et quels écarts aux objectifs faut-il investiguer ?</a:t>
            </a:r>
          </a:p>
          <a:p>
            <a:pPr>
              <a:spcAft>
                <a:spcPts val="1800"/>
              </a:spcAft>
              <a:defRPr sz="2000"/>
            </a:pPr>
            <a:r>
              <a:t>Power Query : sources embarquées, index de première occurrence, doublons et rejets tracés.</a:t>
            </a:r>
          </a:p>
          <a:p>
            <a:pPr>
              <a:spcAft>
                <a:spcPts val="1800"/>
              </a:spcAft>
              <a:defRPr sz="2000"/>
            </a:pPr>
            <a:r>
              <a:t>Excel : filtres Année/Magasin, formules pondérées et trois graphiques natifs modifiables.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Qualité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{'table': 'ventes', 'brut': 60240, 'doublons': 240, 'rejets': 120, 'propre': 59880}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Indicateurs recalculés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lignes valides : 59880</a:t>
            </a:r>
          </a:p>
          <a:p>
            <a:pPr>
              <a:spcAft>
                <a:spcPts val="1800"/>
              </a:spcAft>
              <a:defRPr sz="2000"/>
            </a:pPr>
            <a:r>
              <a:t>ca net : 10,636,885.2100</a:t>
            </a:r>
          </a:p>
          <a:p>
            <a:pPr>
              <a:spcAft>
                <a:spcPts val="1800"/>
              </a:spcAft>
              <a:defRPr sz="2000"/>
            </a:pPr>
            <a:r>
              <a:t>marge commerciale : 4,356,347.7000</a:t>
            </a:r>
          </a:p>
          <a:p>
            <a:pPr>
              <a:spcAft>
                <a:spcPts val="1800"/>
              </a:spcAft>
              <a:defRPr sz="2000"/>
            </a:pPr>
            <a:r>
              <a:t>taux marque : 0.4096</a:t>
            </a:r>
          </a:p>
          <a:p>
            <a:pPr>
              <a:spcAft>
                <a:spcPts val="1800"/>
              </a:spcAft>
              <a:defRPr sz="2000"/>
            </a:pPr>
            <a:r>
              <a:t>commandes distinctes : 30000</a:t>
            </a:r>
          </a:p>
          <a:p>
            <a:pPr>
              <a:spcAft>
                <a:spcPts val="1800"/>
              </a:spcAft>
              <a:defRPr sz="2000"/>
            </a:pPr>
            <a:r>
              <a:t>evolution ca 2025 : -0.0302</a:t>
            </a:r>
          </a:p>
          <a:p>
            <a:pPr>
              <a:spcAft>
                <a:spcPts val="1800"/>
              </a:spcAft>
              <a:defRPr sz="2000"/>
            </a:pPr>
            <a:r>
              <a:t>atteinte objectifs : 0.7013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Indicateurs recalculés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objectifs atteints :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Résultats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CA net : 10,636,885.21 EUR ; marge commerciale : 4,356,347.70 EUR.</a:t>
            </a:r>
          </a:p>
          <a:p>
            <a:pPr>
              <a:spcAft>
                <a:spcPts val="1800"/>
              </a:spcAft>
              <a:defRPr sz="2000"/>
            </a:pPr>
            <a:r>
              <a:t>Évolution 2025 / 2024 : -3.0% ; atteinte globale des objectifs : 70.1%.</a:t>
            </a:r>
          </a:p>
          <a:p>
            <a:pPr>
              <a:spcAft>
                <a:spcPts val="1800"/>
              </a:spcAft>
              <a:defRPr sz="2000"/>
            </a:pPr>
            <a:r>
              <a:t>0 couples mois-magasin atteignent leur objectif sur 192.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Ventes mensuelles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7</a:t>
            </a:r>
          </a:p>
        </p:txBody>
      </p:sp>
      <p:pic>
        <p:nvPicPr>
          <p:cNvPr id="5" name="Picture 4" descr="ventes_mensuel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Contribution magasins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8</a:t>
            </a:r>
          </a:p>
        </p:txBody>
      </p:sp>
      <p:pic>
        <p:nvPicPr>
          <p:cNvPr id="5" name="Picture 4" descr="contribution_magas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Taux marque annuel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9</a:t>
            </a:r>
          </a:p>
        </p:txBody>
      </p:sp>
      <p:pic>
        <p:nvPicPr>
          <p:cNvPr id="5" name="Picture 4" descr="taux_marque_ann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Actions proposées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Examiner les remises et retours par magasin avant toute recommandation.</a:t>
            </a:r>
          </a:p>
          <a:p>
            <a:pPr>
              <a:spcAft>
                <a:spcPts val="1800"/>
              </a:spcAft>
              <a:defRPr sz="2000"/>
            </a:pPr>
            <a:r>
              <a:t>Réviser les objectifs simulés et leur saisonnalité avec les responsables métier.</a:t>
            </a:r>
          </a:p>
          <a:p>
            <a:pPr>
              <a:spcAft>
                <a:spcPts val="1800"/>
              </a:spcAft>
              <a:defRPr sz="2000"/>
            </a:pPr>
            <a:r>
              <a:t>Suivre la marge et le CA ensemble, avec des dénominateurs cohérents.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Limites et 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Données entièrement fictives, sans mission client réelle.</a:t>
            </a:r>
          </a:p>
          <a:p>
            <a:pPr>
              <a:spcAft>
                <a:spcPts val="1800"/>
              </a:spcAft>
              <a:defRPr sz="2000"/>
            </a:pPr>
            <a:r>
              <a:t>La marge commerciale exclut les charges fixes, impôts et coûts logistiques.</a:t>
            </a:r>
          </a:p>
          <a:p>
            <a:pPr>
              <a:spcAft>
                <a:spcPts val="1800"/>
              </a:spcAft>
              <a:defRPr sz="2000"/>
            </a:pPr>
            <a:r>
              <a:t>Retours imputés au mois de vente et supposés remis en stock.</a:t>
            </a:r>
          </a:p>
          <a:p>
            <a:pPr>
              <a:spcAft>
                <a:spcPts val="1800"/>
              </a:spcAft>
              <a:defRPr sz="2000"/>
            </a:pPr>
            <a:r>
              <a:t>Les différences descriptives ne prouvent aucune causalité.</a:t>
            </a:r>
          </a:p>
          <a:p>
            <a:pPr>
              <a:spcAft>
                <a:spcPts val="1800"/>
              </a:spcAft>
              <a:defRPr sz="2000"/>
            </a:pPr>
            <a:r>
              <a:t>Actualisation Power Query et recalcul du classeur à valider dans Excel Desktop ; données et syntaxe M contrôlées.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Sporteo</dc:title>
  <dc:subject>Analyse de données — projet personnel sur données synthétiques</dc:subject>
  <dc:creator>Imad Kaanane</dc:creator>
  <cp:keywords/>
  <dc:description>generated using python-pptx</dc:description>
  <cp:lastModifiedBy>Imad Kaanane</cp:lastModifiedBy>
  <cp:revision>1</cp:revision>
  <dcterms:created xsi:type="dcterms:W3CDTF">2013-01-27T09:14:16Z</dcterms:created>
  <dcterms:modified xsi:type="dcterms:W3CDTF">2013-01-27T09:15:58Z</dcterms:modified>
  <cp:category/>
</cp:coreProperties>
</file>